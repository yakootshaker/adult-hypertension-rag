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266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59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65006" y="3770252"/>
            <a:ext cx="9419304" cy="17906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vert="horz" lIns="91425" tIns="45700" rIns="91425" bIns="45700" rtlCol="0" anchorCtr="0">
            <a:normAutofit/>
          </a:bodyPr>
          <a:lstStyle/>
          <a:p>
            <a:pPr>
              <a:spcBef>
                <a:spcPts val="0"/>
              </a:spcBef>
              <a:buClr>
                <a:schemeClr val="dk2"/>
              </a:buClr>
              <a:buSzPts val="3200"/>
            </a:pP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Clinical Decision Support Lite Hackathon</a:t>
            </a:r>
          </a:p>
        </p:txBody>
      </p:sp>
      <p:pic>
        <p:nvPicPr>
          <p:cNvPr id="6" name="Google Shape;90;p1">
            <a:extLst>
              <a:ext uri="{FF2B5EF4-FFF2-40B4-BE49-F238E27FC236}">
                <a16:creationId xmlns:a16="http://schemas.microsoft.com/office/drawing/2014/main" id="{D7580F5E-20D3-45FE-8B80-F792D5F3A301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6247" y="731520"/>
            <a:ext cx="0" cy="5394960"/>
          </a:xfrm>
          <a:prstGeom prst="line">
            <a:avLst/>
          </a:prstGeom>
          <a:noFill/>
          <a:ln w="508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241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Day 1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49808" y="16733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EE6FF"/>
                </a:solidFill>
              </a:rPr>
              <a:t>Research, Scope &amp; Document Ingestion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20848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DEBFF"/>
                </a:solidFill>
              </a:rPr>
              <a:t>AI Clinical Decision Support Lite Hackathon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841248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Understand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Clinical RAG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30752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9624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Decide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Scope + sources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0256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5FB4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Build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First index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0" y="4114800"/>
            <a:ext cx="210312" cy="0"/>
          </a:xfrm>
          <a:prstGeom prst="line">
            <a:avLst/>
          </a:prstGeom>
          <a:noFill/>
          <a:ln w="17780">
            <a:solidFill>
              <a:srgbClr val="BEE6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18504" y="4114800"/>
            <a:ext cx="210312" cy="0"/>
          </a:xfrm>
          <a:prstGeom prst="line">
            <a:avLst/>
          </a:prstGeom>
          <a:noFill/>
          <a:ln w="17780">
            <a:solidFill>
              <a:srgbClr val="BEE6F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9808" y="60533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BFF"/>
                </a:solidFill>
              </a:rPr>
              <a:t>What students will learn and execute during Day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01</a:t>
            </a:r>
            <a:endParaRPr lang="en-US" sz="820" dirty="0"/>
          </a:p>
        </p:txBody>
      </p:sp>
      <p:pic>
        <p:nvPicPr>
          <p:cNvPr id="17" name="Google Shape;90;p1">
            <a:extLst>
              <a:ext uri="{FF2B5EF4-FFF2-40B4-BE49-F238E27FC236}">
                <a16:creationId xmlns:a16="http://schemas.microsoft.com/office/drawing/2014/main" id="{FF9926CC-918B-4B04-A452-35AFA11C3CE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491090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37395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Today’s learning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Students should leave this session ready to implement the first working knowledge base.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417321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554480"/>
            <a:ext cx="2916936" cy="5587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Conceptual goal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0976" y="2113196"/>
            <a:ext cx="2916936" cy="33549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72033"/>
                </a:solidFill>
              </a:rPr>
              <a:t>Understand why clinical RAG is different from a normal chatbot: the answer must be grounded in official medical evidence, not model memory.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471416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54480"/>
            <a:ext cx="2916936" cy="48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Technical goal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36008" y="2113196"/>
            <a:ext cx="2916936" cy="33549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72033"/>
                </a:solidFill>
              </a:rPr>
              <a:t>Learn the first pipeline: PDF parsing, cleaning, section-aware chunking, metadata preservation, embeddings, and vector indexing.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2907792" cy="4160520"/>
          </a:xfrm>
          <a:prstGeom prst="roundRect">
            <a:avLst>
              <a:gd name="adj" fmla="val 4088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554480"/>
            <a:ext cx="2578608" cy="4889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Execution goal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11896" y="2043404"/>
            <a:ext cx="2578608" cy="34247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72033"/>
                </a:solidFill>
              </a:rPr>
              <a:t>Finish the day with selected guidelines, a narrow scope, and a searchable knowledge base tested with sample queries.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02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9FE7487A-61DE-4A67-A9E6-6D6E58EC3A2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Why this hackathon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The challenge is not fluent text. It is safe, traceable, evidence-based clinical guidance.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2742"/>
                </a:solidFill>
              </a:rPr>
              <a:t>A normal LLM may answer confidently even when it has no evidence.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68680" y="283464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FDEBEC"/>
          </a:solidFill>
          <a:ln w="13970">
            <a:solidFill>
              <a:srgbClr val="D84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935224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Fluent answer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≠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Safe answer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794760" y="3246120"/>
            <a:ext cx="109728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02352" y="2834640"/>
            <a:ext cx="2697480" cy="822960"/>
          </a:xfrm>
          <a:prstGeom prst="roundRect">
            <a:avLst>
              <a:gd name="adj" fmla="val 13333"/>
            </a:avLst>
          </a:prstGeom>
          <a:solidFill>
            <a:srgbClr val="EAFBF7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1224" y="2935224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Retrieved evidence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+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Citation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28432" y="3246120"/>
            <a:ext cx="91440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25712" y="2834640"/>
            <a:ext cx="2057400" cy="822960"/>
          </a:xfrm>
          <a:prstGeom prst="roundRect">
            <a:avLst>
              <a:gd name="adj" fmla="val 13333"/>
            </a:avLst>
          </a:prstGeom>
          <a:solidFill>
            <a:srgbClr val="EAF3FF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44584" y="2935224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Grounded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response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995160" y="1353312"/>
            <a:ext cx="4005072" cy="896112"/>
          </a:xfrm>
          <a:prstGeom prst="roundRect">
            <a:avLst>
              <a:gd name="adj" fmla="val 13265"/>
            </a:avLst>
          </a:prstGeom>
          <a:solidFill>
            <a:srgbClr val="FFF8E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9752" y="1490471"/>
            <a:ext cx="3675888" cy="33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Student takeaway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59752" y="1847088"/>
            <a:ext cx="367588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</a:rPr>
              <a:t>If the system cannot find evidence in the uploaded guidelines, it should say so instead of guessing.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508760" y="4709159"/>
            <a:ext cx="9052560" cy="795521"/>
          </a:xfrm>
          <a:prstGeom prst="roundRect">
            <a:avLst>
              <a:gd name="adj" fmla="val 18056"/>
            </a:avLst>
          </a:prstGeom>
          <a:solidFill>
            <a:srgbClr val="F6F8FB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73352" y="4846320"/>
            <a:ext cx="8723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Day 1 foundation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73352" y="5202936"/>
            <a:ext cx="8723376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40000" lnSpcReduction="20000"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Every later score depends on today’s foundation: useful documents, clean chunks, and correct citation metadata.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03</a:t>
            </a:r>
            <a:endParaRPr lang="en-US" sz="82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B612FF8-351E-4F5F-89F6-5AC041561894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26" name="Google Shape;90;p1">
            <a:extLst>
              <a:ext uri="{FF2B5EF4-FFF2-40B4-BE49-F238E27FC236}">
                <a16:creationId xmlns:a16="http://schemas.microsoft.com/office/drawing/2014/main" id="{C55923E9-9123-4877-80D0-3B8739F6330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What are we building?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A lightweight clinical decision-support assistant that answers from official guidelines only.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659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66544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PDF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Guidelines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94560" y="2377440"/>
            <a:ext cx="402336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1760" y="19659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066544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Parse +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Chunk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96512" y="2377440"/>
            <a:ext cx="402336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53712" y="19659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066544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Embed +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Index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98464" y="2377440"/>
            <a:ext cx="402336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55664" y="19659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5FB4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4536" y="2066544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Retrieve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Top-K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900416" y="2377440"/>
            <a:ext cx="402336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57616" y="19659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0F2742"/>
          </a:solidFill>
          <a:ln w="13970">
            <a:solidFill>
              <a:srgbClr val="0F27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6488" y="2066544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Generate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Answer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802368" y="2377440"/>
            <a:ext cx="402336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259568" y="196596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84C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78440" y="2066544"/>
            <a:ext cx="1179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Citations +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Safety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22960" y="3703320"/>
            <a:ext cx="3017520" cy="1280160"/>
          </a:xfrm>
          <a:prstGeom prst="roundRect">
            <a:avLst>
              <a:gd name="adj" fmla="val 9286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84048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Input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87552" y="4197096"/>
            <a:ext cx="26883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Official medical guideline PDFs and a clinical question.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26280" y="3703320"/>
            <a:ext cx="3017520" cy="1280160"/>
          </a:xfrm>
          <a:prstGeom prst="roundRect">
            <a:avLst>
              <a:gd name="adj" fmla="val 9286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384048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Core logic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90872" y="4197096"/>
            <a:ext cx="26883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Search the guidelines, select relevant chunks, then answer only from them.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3703320"/>
            <a:ext cx="2743200" cy="1280160"/>
          </a:xfrm>
          <a:prstGeom prst="roundRect">
            <a:avLst>
              <a:gd name="adj" fmla="val 9286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384048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Output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394192" y="4197096"/>
            <a:ext cx="24140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Recommendation, supporting evidence, citation, confidence, and disclaimer.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04</a:t>
            </a:r>
            <a:endParaRPr lang="en-US" sz="82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488BDEC3-0335-4217-A3A2-8FB20B8F5FB3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36" name="Google Shape;90;p1">
            <a:extLst>
              <a:ext uri="{FF2B5EF4-FFF2-40B4-BE49-F238E27FC236}">
                <a16:creationId xmlns:a16="http://schemas.microsoft.com/office/drawing/2014/main" id="{9950E5D9-6817-4141-81C8-0E7D7A246C2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Day 1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The day moves from problem definition to the first searchable guideline index.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1572768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6172" y="180136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395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2742"/>
                </a:solidFill>
              </a:rPr>
              <a:t>Scope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6656" y="276148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C667A"/>
                </a:solidFill>
              </a:rPr>
              <a:t>Pick a narrow clinical problem.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2075688" y="1856232"/>
            <a:ext cx="61264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01568" y="1572768"/>
            <a:ext cx="566928" cy="5669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6452" y="180136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90088" y="2395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2742"/>
                </a:solidFill>
              </a:rPr>
              <a:t>Sources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16936" y="276148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C667A"/>
                </a:solidFill>
              </a:rPr>
              <a:t>Select official, legally usable PDFs.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315968" y="1856232"/>
            <a:ext cx="61264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41848" y="1572768"/>
            <a:ext cx="566928" cy="566928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3280" y="180136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0368" y="2395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2742"/>
                </a:solidFill>
              </a:rPr>
              <a:t>Parsing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57216" y="276148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C667A"/>
                </a:solidFill>
              </a:rPr>
              <a:t>Extract clean text from each PDF.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556248" y="1856232"/>
            <a:ext cx="61264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82128" y="1572768"/>
            <a:ext cx="566928" cy="566928"/>
          </a:xfrm>
          <a:prstGeom prst="ellipse">
            <a:avLst/>
          </a:prstGeom>
          <a:solidFill>
            <a:srgbClr val="5FB49C"/>
          </a:solidFill>
          <a:ln w="12700">
            <a:solidFill>
              <a:srgbClr val="5FB4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7012" y="180136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70648" y="2395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2742"/>
                </a:solidFill>
              </a:rPr>
              <a:t>Chunking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97496" y="276148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C667A"/>
                </a:solidFill>
              </a:rPr>
              <a:t>Split by sections and preserve context.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796528" y="1856232"/>
            <a:ext cx="61264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122408" y="1572768"/>
            <a:ext cx="566928" cy="566928"/>
          </a:xfrm>
          <a:prstGeom prst="ellipse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7292" y="1801368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10928" y="2395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2742"/>
                </a:solidFill>
              </a:rPr>
              <a:t>Indexing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637776" y="276148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5C667A"/>
                </a:solidFill>
              </a:rPr>
              <a:t>Generate embeddings and store metadata.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1325880" y="4617720"/>
            <a:ext cx="9235440" cy="822960"/>
          </a:xfrm>
          <a:prstGeom prst="roundRect">
            <a:avLst>
              <a:gd name="adj" fmla="val 14444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90472" y="4754880"/>
            <a:ext cx="8906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End-of-day target</a:t>
            </a:r>
            <a:endParaRPr lang="en-US" sz="1270" dirty="0"/>
          </a:p>
        </p:txBody>
      </p:sp>
      <p:sp>
        <p:nvSpPr>
          <p:cNvPr id="33" name="Text 31"/>
          <p:cNvSpPr/>
          <p:nvPr/>
        </p:nvSpPr>
        <p:spPr>
          <a:xfrm>
            <a:off x="1490472" y="5111496"/>
            <a:ext cx="8906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A demo-ready knowledge base is not required today. A working first index with visible chunks and metadata is required.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05</a:t>
            </a:r>
            <a:endParaRPr lang="en-US" sz="820" dirty="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5258F89B-4E65-4ADA-93B8-C7A1BF979A5F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37" name="Google Shape;90;p1">
            <a:extLst>
              <a:ext uri="{FF2B5EF4-FFF2-40B4-BE49-F238E27FC236}">
                <a16:creationId xmlns:a16="http://schemas.microsoft.com/office/drawing/2014/main" id="{FDAA0BFF-ACB5-476B-A117-B4934CCD9CA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Step 1 — Choose a narrow clinical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The best scope is small enough to evaluate and important enough to demonstrate.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26464"/>
            <a:ext cx="3154680" cy="361188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5FB4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63623"/>
            <a:ext cx="2825496" cy="48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Good examples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1832" y="2231136"/>
            <a:ext cx="282549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Adult hypertension initial management.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Diabetes screening guidance.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Asthma step-up / step-down guidance.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Preventive screening recommendations.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Antibiotic use for one condition area.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98848" y="1426464"/>
            <a:ext cx="3154680" cy="3611880"/>
          </a:xfrm>
          <a:prstGeom prst="roundRect">
            <a:avLst>
              <a:gd name="adj" fmla="val 3768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63624"/>
            <a:ext cx="2825496" cy="489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Avoid today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2231136"/>
            <a:ext cx="282549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“All diseases assistant.”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Mixing too many specialties.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Rare cases with weak guideline coverage.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Patient-specific diagnosis.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Emergency medical advice.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11312" y="1426464"/>
            <a:ext cx="2834640" cy="3611880"/>
          </a:xfrm>
          <a:prstGeom prst="roundRect">
            <a:avLst>
              <a:gd name="adj" fmla="val 4194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474422"/>
            <a:ext cx="25054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Scope statement template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75904" y="2231136"/>
            <a:ext cx="2505456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This system helps [target user] answer questions about [clinical topic] using [official guideline source].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5623560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2"/>
                </a:solidFill>
              </a:rPr>
              <a:t>Team task: write your scope statement in one sentence before touching code.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06</a:t>
            </a:r>
            <a:endParaRPr lang="en-US" sz="820" dirty="0"/>
          </a:p>
        </p:txBody>
      </p:sp>
      <p:sp>
        <p:nvSpPr>
          <p:cNvPr id="19" name="Shape 0">
            <a:extLst>
              <a:ext uri="{FF2B5EF4-FFF2-40B4-BE49-F238E27FC236}">
                <a16:creationId xmlns:a16="http://schemas.microsoft.com/office/drawing/2014/main" id="{89FF995F-7964-4291-9877-4E0057C918D5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54E48931-4ECF-42E6-9EB0-6E1A2AEE978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37395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Step 2 — Select credible guideline PDFs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Your dataset must be trusted, legal, public, and manageable.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89888"/>
            <a:ext cx="3246120" cy="4224528"/>
          </a:xfrm>
          <a:prstGeom prst="roundRect">
            <a:avLst>
              <a:gd name="adj" fmla="val 3662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27047"/>
            <a:ext cx="2916936" cy="457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Allowed data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1832" y="2230016"/>
            <a:ext cx="2916936" cy="327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Official medical guideline PDFs.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Public health documents.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Publicly accessible recommendations.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Moderate-size collections.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Sources that can be cited clearly.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62272" y="1389888"/>
            <a:ext cx="3246120" cy="4224528"/>
          </a:xfrm>
          <a:prstGeom prst="roundRect">
            <a:avLst>
              <a:gd name="adj" fmla="val 3662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527048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Not allowed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26864" y="2230016"/>
            <a:ext cx="2916936" cy="327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Hospital records.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Private patient data.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PHI or identifiable health data.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Credential-gated datasets.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Extremely large research corpora.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389888"/>
            <a:ext cx="2907792" cy="4224528"/>
          </a:xfrm>
          <a:prstGeom prst="roundRect">
            <a:avLst>
              <a:gd name="adj" fmla="val 408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2704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Suggested sources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02752" y="2230016"/>
            <a:ext cx="2578608" cy="327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WHO clinical guidelines.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CDC recommendations.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NICE guidelines.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USPSTF recommendations.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</a:rPr>
              <a:t>• Other official bodies with clear public use.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07</a:t>
            </a:r>
            <a:endParaRPr lang="en-US" sz="820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96E9B2D4-33BE-42F1-9857-6173A0AADF40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19" name="Google Shape;90;p1">
            <a:extLst>
              <a:ext uri="{FF2B5EF4-FFF2-40B4-BE49-F238E27FC236}">
                <a16:creationId xmlns:a16="http://schemas.microsoft.com/office/drawing/2014/main" id="{623FE972-AD96-4798-83FF-04C672F02D5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37395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Step 3 — Build the ingestion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Turn guideline PDFs into clean, searchable, citable data.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1508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29384"/>
            <a:ext cx="12710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033"/>
                </a:solidFill>
              </a:rPr>
              <a:t>PDF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172033"/>
                </a:solidFill>
              </a:rPr>
              <a:t>Parsing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2441448" y="2267712"/>
            <a:ext cx="512064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35808" y="1828800"/>
            <a:ext cx="1508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929384"/>
            <a:ext cx="12710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033"/>
                </a:solidFill>
              </a:rPr>
              <a:t>Text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172033"/>
                </a:solidFill>
              </a:rPr>
              <a:t>Cleaning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4608576" y="2267712"/>
            <a:ext cx="512064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02936" y="1828800"/>
            <a:ext cx="1508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1929384"/>
            <a:ext cx="12710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033"/>
                </a:solidFill>
              </a:rPr>
              <a:t>Section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172033"/>
                </a:solidFill>
              </a:rPr>
              <a:t>Detection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6775704" y="2267712"/>
            <a:ext cx="512064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70064" y="1828800"/>
            <a:ext cx="1508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970">
            <a:solidFill>
              <a:srgbClr val="5FB4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88936" y="1929384"/>
            <a:ext cx="12710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033"/>
                </a:solidFill>
              </a:rPr>
              <a:t>Chunk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172033"/>
                </a:solidFill>
              </a:rPr>
              <a:t>Creation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8942832" y="2267712"/>
            <a:ext cx="512064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37192" y="1828800"/>
            <a:ext cx="1508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970">
            <a:solidFill>
              <a:srgbClr val="0F27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6064" y="1929384"/>
            <a:ext cx="12710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033"/>
                </a:solidFill>
              </a:rPr>
              <a:t>Metadata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172033"/>
                </a:solidFill>
              </a:rPr>
              <a:t>Storage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841248" y="3694176"/>
            <a:ext cx="3246120" cy="1417320"/>
          </a:xfrm>
          <a:prstGeom prst="roundRect">
            <a:avLst>
              <a:gd name="adj" fmla="val 8387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83133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PDF parsing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1005840" y="4187952"/>
            <a:ext cx="291693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Extract text while preserving page numbers. Check if tables and multi-column layouts are readable.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462272" y="3694176"/>
            <a:ext cx="3246120" cy="1417320"/>
          </a:xfrm>
          <a:prstGeom prst="roundRect">
            <a:avLst>
              <a:gd name="adj" fmla="val 8387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383133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Cleaning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4626864" y="4187952"/>
            <a:ext cx="291693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Remove repeated headers, footers, page noise, broken line breaks, and obvious extraction artifacts.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8083296" y="3694176"/>
            <a:ext cx="2834640" cy="1417320"/>
          </a:xfrm>
          <a:prstGeom prst="roundRect">
            <a:avLst>
              <a:gd name="adj" fmla="val 8387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383133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Section detection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8247888" y="4187952"/>
            <a:ext cx="250545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Keep headings and recommendation sections because they make retrieval and citations stronger.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08</a:t>
            </a:r>
            <a:endParaRPr lang="en-US" sz="82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2AF4E4D0-92D2-4186-BC5A-4542F9C8D0BC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33" name="Google Shape;90;p1">
            <a:extLst>
              <a:ext uri="{FF2B5EF4-FFF2-40B4-BE49-F238E27FC236}">
                <a16:creationId xmlns:a16="http://schemas.microsoft.com/office/drawing/2014/main" id="{7C9ED59F-A1E8-4C3E-A178-31F6921517B6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Step 4 — Section-aware chunking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A good chunk contains one coherent clinical idea and enough context to support an answer.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2742"/>
                </a:solidFill>
              </a:rPr>
              <a:t>Chunking decision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96112" y="2148840"/>
            <a:ext cx="2423160" cy="685800"/>
          </a:xfrm>
          <a:prstGeom prst="roundRect">
            <a:avLst>
              <a:gd name="adj" fmla="val 16000"/>
            </a:avLst>
          </a:prstGeom>
          <a:solidFill>
            <a:srgbClr val="FDEBEC"/>
          </a:solidFill>
          <a:ln w="13970">
            <a:solidFill>
              <a:srgbClr val="D84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2249424"/>
            <a:ext cx="21854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Too small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Missing context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77056" y="2148840"/>
            <a:ext cx="2423160" cy="685800"/>
          </a:xfrm>
          <a:prstGeom prst="roundRect">
            <a:avLst>
              <a:gd name="adj" fmla="val 16000"/>
            </a:avLst>
          </a:prstGeom>
          <a:solidFill>
            <a:srgbClr val="EAFBF7"/>
          </a:solidFill>
          <a:ln w="13970">
            <a:solidFill>
              <a:srgbClr val="5FB4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5928" y="2249424"/>
            <a:ext cx="21854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Balanced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One useful idea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2148840"/>
            <a:ext cx="2423160" cy="685800"/>
          </a:xfrm>
          <a:prstGeom prst="roundRect">
            <a:avLst>
              <a:gd name="adj" fmla="val 16000"/>
            </a:avLst>
          </a:prstGeom>
          <a:solidFill>
            <a:srgbClr val="FFF2D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6872" y="2249424"/>
            <a:ext cx="21854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Too large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Low precision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56432" y="2487168"/>
            <a:ext cx="310896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37376" y="2487168"/>
            <a:ext cx="310896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6112" y="3694176"/>
            <a:ext cx="2926080" cy="1298448"/>
          </a:xfrm>
          <a:prstGeom prst="roundRect">
            <a:avLst>
              <a:gd name="adj" fmla="val 9155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83133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Recommended start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1060704" y="4187952"/>
            <a:ext cx="259689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Use section-aware chunks around 400–800 tokens with overlap only when needed.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4443984" y="3694176"/>
            <a:ext cx="2926080" cy="1298448"/>
          </a:xfrm>
          <a:prstGeom prst="roundRect">
            <a:avLst>
              <a:gd name="adj" fmla="val 9155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383133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Preserve context</a:t>
            </a:r>
            <a:endParaRPr lang="en-US" sz="1270" dirty="0"/>
          </a:p>
        </p:txBody>
      </p:sp>
      <p:sp>
        <p:nvSpPr>
          <p:cNvPr id="21" name="Text 19"/>
          <p:cNvSpPr/>
          <p:nvPr/>
        </p:nvSpPr>
        <p:spPr>
          <a:xfrm>
            <a:off x="4608576" y="4187952"/>
            <a:ext cx="259689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Keep section title, recommendation label, page number, and document name with every chunk.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991856" y="3694176"/>
            <a:ext cx="2724912" cy="1298448"/>
          </a:xfrm>
          <a:prstGeom prst="roundRect">
            <a:avLst>
              <a:gd name="adj" fmla="val 9155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383133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Manual check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8156448" y="4187952"/>
            <a:ext cx="239572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Open 5 chunks and verify that each one makes sense without the entire PDF.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09</a:t>
            </a:r>
            <a:endParaRPr lang="en-US" sz="82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EA89BD1B-6556-4017-891F-95663AE8DFF3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28" name="Google Shape;90;p1">
            <a:extLst>
              <a:ext uri="{FF2B5EF4-FFF2-40B4-BE49-F238E27FC236}">
                <a16:creationId xmlns:a16="http://schemas.microsoft.com/office/drawing/2014/main" id="{8CD9B543-4ACB-4DC2-AFBE-1A15C3FA46D0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Step 5 — Metadata is the citation foundation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Citations shown later are only as accurate as the metadata saved today.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63973"/>
            <a:ext cx="5074920" cy="4133088"/>
          </a:xfrm>
          <a:prstGeom prst="roundRect">
            <a:avLst>
              <a:gd name="adj" fmla="val 2655"/>
            </a:avLst>
          </a:prstGeom>
          <a:solidFill>
            <a:srgbClr val="F6F8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700784"/>
            <a:ext cx="3512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Minimum chunk object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15568" y="2148840"/>
            <a:ext cx="4434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"document_name": "NICE Hypertension Guideline",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"page_number": 18,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"section_title": "Starting treatment",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"chunk_id": "nice_htn_p18_c03",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"source_url": "...",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"..."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536192"/>
            <a:ext cx="4251960" cy="1188720"/>
          </a:xfrm>
          <a:prstGeom prst="roundRect">
            <a:avLst>
              <a:gd name="adj" fmla="val 10000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1673352"/>
            <a:ext cx="3922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</a:rPr>
              <a:t>Why it matters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48272" y="2029968"/>
            <a:ext cx="392277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Without document name, page, and section, the final answer may look cited but cannot be trusted.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154680"/>
            <a:ext cx="4251960" cy="1188720"/>
          </a:xfrm>
          <a:prstGeom prst="roundRect">
            <a:avLst>
              <a:gd name="adj" fmla="val 10000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3291840"/>
            <a:ext cx="3922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2742"/>
                </a:solidFill>
              </a:rPr>
              <a:t>Student task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48272" y="3648456"/>
            <a:ext cx="392277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Store metadata with the vector entry, not in a separate spreadsheet that can get out of sync.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773168"/>
            <a:ext cx="4251960" cy="749808"/>
          </a:xfrm>
          <a:prstGeom prst="roundRect">
            <a:avLst>
              <a:gd name="adj" fmla="val 15854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4910328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</a:rPr>
              <a:t>Quality check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48272" y="5266944"/>
            <a:ext cx="392277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Pick one chunk and trace it back to the original PDF page.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10</a:t>
            </a:r>
            <a:endParaRPr lang="en-US" sz="82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9BA6FC0C-75B9-411D-BF58-2225FFFA0046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22" name="Google Shape;90;p1">
            <a:extLst>
              <a:ext uri="{FF2B5EF4-FFF2-40B4-BE49-F238E27FC236}">
                <a16:creationId xmlns:a16="http://schemas.microsoft.com/office/drawing/2014/main" id="{C017C459-10D9-4AF8-A6F2-4EBB910243E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37395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Step 6 — Build the first vector index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The goal today is not perfect retrieval. It is a working baseline that can be improved tomorrow.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874520"/>
            <a:ext cx="1737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75104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Chunk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Text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642616" y="2322576"/>
            <a:ext cx="45720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72968" y="1874520"/>
            <a:ext cx="1737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975104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Embedding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Model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974336" y="2322576"/>
            <a:ext cx="45720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04688" y="1874520"/>
            <a:ext cx="1737360" cy="896112"/>
          </a:xfrm>
          <a:prstGeom prst="roundRect">
            <a:avLst>
              <a:gd name="adj" fmla="val 12245"/>
            </a:avLst>
          </a:prstGeom>
          <a:solidFill>
            <a:srgbClr val="0F2742"/>
          </a:solidFill>
          <a:ln w="13970">
            <a:solidFill>
              <a:srgbClr val="0F27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975104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Vector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Database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306056" y="2322576"/>
            <a:ext cx="45720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36408" y="1874520"/>
            <a:ext cx="173736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975104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Top-K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72033"/>
                </a:solidFill>
              </a:rPr>
              <a:t>Search Test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96112" y="3794760"/>
            <a:ext cx="2926080" cy="1261872"/>
          </a:xfrm>
          <a:prstGeom prst="roundRect">
            <a:avLst>
              <a:gd name="adj" fmla="val 9420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393192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Embedding choice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0704" y="4288536"/>
            <a:ext cx="25968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</a:rPr>
              <a:t>Use a reliable text embedding model. Keep the model name and settings documented.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62272" y="3794760"/>
            <a:ext cx="2926080" cy="1261872"/>
          </a:xfrm>
          <a:prstGeom prst="roundRect">
            <a:avLst>
              <a:gd name="adj" fmla="val 9420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93192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Index storage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26864" y="4288536"/>
            <a:ext cx="259689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</a:rPr>
              <a:t>Use any vector database, but make sure scores and metadata can be retrieved with the text.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28432" y="3794760"/>
            <a:ext cx="2743200" cy="1261872"/>
          </a:xfrm>
          <a:prstGeom prst="roundRect">
            <a:avLst>
              <a:gd name="adj" fmla="val 9420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3024" y="393192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Baseline test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93024" y="4288536"/>
            <a:ext cx="24140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72033"/>
                </a:solidFill>
              </a:rPr>
              <a:t>Run 5–10 clinical questions and inspect the returned chunks before generation.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11</a:t>
            </a:r>
            <a:endParaRPr lang="en-US" sz="82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F775C6A0-1466-4AD5-A9FF-EBF6B50718C1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30" name="Google Shape;90;p1">
            <a:extLst>
              <a:ext uri="{FF2B5EF4-FFF2-40B4-BE49-F238E27FC236}">
                <a16:creationId xmlns:a16="http://schemas.microsoft.com/office/drawing/2014/main" id="{E46B4665-2C42-45A1-ABD3-0875B78CA77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Hands-on lab — Complete this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Practical checklist for teams after the teaching block.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367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Choose one narrow clinical topic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6367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Create section-aware chunks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23225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2860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Download 1–2 official guideline PDFs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23225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2860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Attach metadata: document, section, page, chunk 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30083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9718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Document why the source is credible and public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30083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29718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Generate embeddings and index chunks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6941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6576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Extract text and inspect sample pages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0" y="36941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6576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Run 5–10 clinical queries and display chunks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43000" y="5074920"/>
            <a:ext cx="9875520" cy="685800"/>
          </a:xfrm>
          <a:prstGeom prst="roundRect">
            <a:avLst>
              <a:gd name="adj" fmla="val 24000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533095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4C4C"/>
                </a:solidFill>
              </a:rPr>
              <a:t>Stop point: Do not optimize prompts or UI until the first index can retrieve reasonable evidence.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12</a:t>
            </a:r>
            <a:endParaRPr lang="en-US" sz="820" dirty="0"/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D199BA97-6F54-4832-8CB0-318499108E04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28" name="Google Shape;90;p1">
            <a:extLst>
              <a:ext uri="{FF2B5EF4-FFF2-40B4-BE49-F238E27FC236}">
                <a16:creationId xmlns:a16="http://schemas.microsoft.com/office/drawing/2014/main" id="{720CE3C6-6EEE-4D8D-9D40-B3DBEFBDF53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3840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</a:rPr>
              <a:t>End-of-day review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Use these questions to decide whether the team is ready for Day 2: Retrieval Optimization.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3154680" cy="356616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Source readiness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82549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Are the PDFs official and public?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Is the scope narrow?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Are source URLs and names recorded?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Are licensing concerns avoided?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154680" cy="356616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Chunk readiness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45152" y="1911096"/>
            <a:ext cx="282549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Are chunks readable?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Do chunks preserve page and section?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Are recommendations split correctly?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Is garbage text removed?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2834640" cy="3566160"/>
          </a:xfrm>
          <a:prstGeom prst="roundRect">
            <a:avLst>
              <a:gd name="adj" fmla="val 4194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55448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Search readiness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48472" y="1911096"/>
            <a:ext cx="250545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Are embeddings created?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Is metadata returned with chunks?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Do 5–10 questions retrieve reasonable evidence?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</a:rPr>
              <a:t>• Are weak results visible?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17320" y="5486400"/>
            <a:ext cx="9098280" cy="438912"/>
          </a:xfrm>
          <a:prstGeom prst="roundRect">
            <a:avLst>
              <a:gd name="adj" fmla="val 37500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5614416"/>
            <a:ext cx="8641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Ready for Day 2 when the team can show: question → top chunks → source page/section.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13</a:t>
            </a:r>
            <a:endParaRPr lang="en-US" sz="82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677F3EC8-3E8A-43C2-8527-96BC92599C4E}"/>
              </a:ext>
            </a:extLst>
          </p:cNvPr>
          <p:cNvSpPr/>
          <p:nvPr/>
        </p:nvSpPr>
        <p:spPr>
          <a:xfrm>
            <a:off x="480526" y="155448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pic>
        <p:nvPicPr>
          <p:cNvPr id="21" name="Google Shape;90;p1">
            <a:extLst>
              <a:ext uri="{FF2B5EF4-FFF2-40B4-BE49-F238E27FC236}">
                <a16:creationId xmlns:a16="http://schemas.microsoft.com/office/drawing/2014/main" id="{F55A6697-9553-43E1-884C-A4D07484164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7492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</TotalTime>
  <Words>1305</Words>
  <Application>Microsoft Office PowerPoint</Application>
  <PresentationFormat>Widescreen</PresentationFormat>
  <Paragraphs>244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AI Clinical Decision Support Lite Hackathon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Student Session</dc:title>
  <dc:subject>AI Clinical Decision Support Lite Hackathon - Day 1 Student Session</dc:subject>
  <dc:creator>OpenAI</dc:creator>
  <cp:lastModifiedBy>Abdallah Wagih</cp:lastModifiedBy>
  <cp:revision>33</cp:revision>
  <dcterms:created xsi:type="dcterms:W3CDTF">2026-07-26T07:58:19Z</dcterms:created>
  <dcterms:modified xsi:type="dcterms:W3CDTF">2026-07-28T14:58:25Z</dcterms:modified>
</cp:coreProperties>
</file>